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039A5A-6867-41E4-AD81-4D5A3A90B56B}">
  <a:tblStyle styleId="{47039A5A-6867-41E4-AD81-4D5A3A90B56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a249c9134_0_3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3a249c9134_0_3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3a249c9134_0_4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3a249c9134_0_4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eac61261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9eac61261b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9eac61261b_0_5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9eac61261b_0_5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9eac61261b_0_1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9eac61261b_0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9eac61261b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9eac61261b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3a249c9134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3a249c9134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3a249c9134_0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g33a249c9134_0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9efec2b347_0_4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g39efec2b347_0_4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9efec2b34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g39efec2b34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9efec2b347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g39efec2b347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9efec2b347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g39efec2b347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9efec2b347_0_2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g39efec2b347_0_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9efec2b347_0_3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g39efec2b347_0_3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39eac61261b_0_6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g39eac61261b_0_6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39eac61261b_0_7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g39eac61261b_0_7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39eac61261b_0_8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g39eac61261b_0_8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hyperlink" Target="https://indiadataportal.com/p/power/r/mop-coal_stock-pl-dl-aaa" TargetMode="External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-8043" y="2813536"/>
            <a:ext cx="12192000" cy="49260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Coal Stocks in Indian Thermal Power Stations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798011" y="5632528"/>
            <a:ext cx="6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Symbiosis Institute of Technology, Nagpur Campus</a:t>
            </a:r>
            <a:endParaRPr b="1" i="0" sz="18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133105" y="1565205"/>
            <a:ext cx="9853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- CA IV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914170" y="3837804"/>
            <a:ext cx="6390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Pranita Dadhe</a:t>
            </a:r>
            <a:endParaRPr sz="20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Sem: </a:t>
            </a:r>
            <a:r>
              <a:rPr lang="en-US"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VII</a:t>
            </a:r>
            <a:r>
              <a:rPr b="0" i="0" lang="en-US" sz="2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endParaRPr b="0" i="0" sz="20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PRN: 22070521099</a:t>
            </a:r>
            <a:endParaRPr sz="20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</a:t>
            </a:r>
            <a:endParaRPr b="1" i="0" sz="20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P</a:t>
            </a:r>
            <a:r>
              <a:rPr lang="en-US"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iyush Chauhan</a:t>
            </a:r>
            <a:endParaRPr b="1" sz="13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2" name="Google Shape;92;p13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93" name="Google Shape;93;p13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4" name="Google Shape;94;p13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95" name="Google Shape;95;p13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" name="Google Shape;119;p13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" name="Google Shape;121;p13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" name="Google Shape;122;p13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" name="Google Shape;124;p13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" name="Google Shape;125;p13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" name="Google Shape;126;p13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" name="Google Shape;128;p13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30" name="Google Shape;130;p13"/>
          <p:cNvGrpSpPr/>
          <p:nvPr/>
        </p:nvGrpSpPr>
        <p:grpSpPr>
          <a:xfrm>
            <a:off x="451031" y="6490656"/>
            <a:ext cx="4247753" cy="273665"/>
            <a:chOff x="4366684" y="2926127"/>
            <a:chExt cx="3278346" cy="2572038"/>
          </a:xfrm>
        </p:grpSpPr>
        <p:sp>
          <p:nvSpPr>
            <p:cNvPr id="131" name="Google Shape;131;p13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6" name="Google Shape;1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521" y="190223"/>
            <a:ext cx="6879347" cy="999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3"/>
          <p:cNvGrpSpPr/>
          <p:nvPr/>
        </p:nvGrpSpPr>
        <p:grpSpPr>
          <a:xfrm>
            <a:off x="4815395" y="6382131"/>
            <a:ext cx="7369500" cy="465300"/>
            <a:chOff x="4817758" y="6382984"/>
            <a:chExt cx="7369500" cy="465300"/>
          </a:xfrm>
        </p:grpSpPr>
        <p:sp>
          <p:nvSpPr>
            <p:cNvPr id="168" name="Google Shape;168;p13"/>
            <p:cNvSpPr/>
            <p:nvPr/>
          </p:nvSpPr>
          <p:spPr>
            <a:xfrm>
              <a:off x="4817758" y="6382984"/>
              <a:ext cx="7369500" cy="4653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9" name="Google Shape;169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73655" y="6397831"/>
              <a:ext cx="7281505" cy="417465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170" name="Google Shape;170;p13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4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7" name="Google Shape;177;p14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78" name="Google Shape;178;p14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9" name="Google Shape;179;p14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0" name="Google Shape;180;p14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p14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p14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p14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p14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p14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p14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p14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p14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p14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p14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p14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p14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p14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p14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p14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p14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p14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p14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p14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p14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p14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p14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p14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p14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p14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p14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p14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p14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p14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p14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p14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p14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3" name="Google Shape;213;p14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4" name="Google Shape;214;p14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49" name="Google Shape;249;p14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   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0" name="Google Shape;2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4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14"/>
          <p:cNvSpPr txBox="1"/>
          <p:nvPr/>
        </p:nvSpPr>
        <p:spPr>
          <a:xfrm>
            <a:off x="425675" y="1393350"/>
            <a:ext cx="1076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4"/>
          <p:cNvSpPr txBox="1"/>
          <p:nvPr/>
        </p:nvSpPr>
        <p:spPr>
          <a:xfrm>
            <a:off x="425675" y="1393350"/>
            <a:ext cx="112878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Coal is the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source of fuel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India’s thermal power plants, contributing significantly to national electricity generation.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sector often faces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irregular coal supply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transportation bottlenecks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leading to fluctuations in coal availability.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challenges result in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or super-critical stock levels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affecting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generation and energy security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to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daily coal stock data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uncover trends, patterns, and influencing factors.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study aims to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critical plants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future coal stock levels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data analytics and machine learning.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 from the analysis can help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coal distribution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 shortages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support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sustainable energy management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15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259" name="Google Shape;259;p15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60" name="Google Shape;260;p15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61" name="Google Shape;261;p15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2" name="Google Shape;262;p15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3" name="Google Shape;263;p15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4" name="Google Shape;264;p15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5" name="Google Shape;265;p15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7" name="Google Shape;267;p15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8" name="Google Shape;268;p15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9" name="Google Shape;269;p15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0" name="Google Shape;270;p15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1" name="Google Shape;271;p15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4" name="Google Shape;274;p15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5" name="Google Shape;275;p15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6" name="Google Shape;276;p15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7" name="Google Shape;277;p15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8" name="Google Shape;278;p15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4" name="Google Shape;284;p15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5" name="Google Shape;285;p15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6" name="Google Shape;286;p15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7" name="Google Shape;287;p15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8" name="Google Shape;288;p15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9" name="Google Shape;289;p15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0" name="Google Shape;290;p15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1" name="Google Shape;291;p15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2" name="Google Shape;292;p15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3" name="Google Shape;293;p15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4" name="Google Shape;294;p15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5" name="Google Shape;295;p15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96" name="Google Shape;296;p15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97" name="Google Shape;297;p15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2" name="Google Shape;332;p15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3" name="Google Shape;3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5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5" name="Google Shape;335;p15"/>
          <p:cNvSpPr txBox="1"/>
          <p:nvPr/>
        </p:nvSpPr>
        <p:spPr>
          <a:xfrm>
            <a:off x="463975" y="1289850"/>
            <a:ext cx="10521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coal availability and consumption trends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different thermal power plants in India.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plants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operating under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or super-critical coal stock levels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impact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factors such as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sector type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(Central, State, Private) and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 of transport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coal stock management.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predictive model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forecasting daily coal stock levels.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data-driven decision-making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coal supply management efficiency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uninterrupted power generation.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16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341" name="Google Shape;341;p16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42" name="Google Shape;342;p16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343" name="Google Shape;343;p16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4" name="Google Shape;344;p16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5" name="Google Shape;345;p16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6" name="Google Shape;346;p16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7" name="Google Shape;347;p16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8" name="Google Shape;348;p16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9" name="Google Shape;349;p16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0" name="Google Shape;350;p16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1" name="Google Shape;351;p16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2" name="Google Shape;352;p16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3" name="Google Shape;353;p16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4" name="Google Shape;354;p16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5" name="Google Shape;355;p16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6" name="Google Shape;356;p16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7" name="Google Shape;357;p16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8" name="Google Shape;358;p16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9" name="Google Shape;359;p16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0" name="Google Shape;360;p16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1" name="Google Shape;361;p16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2" name="Google Shape;362;p16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3" name="Google Shape;363;p16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4" name="Google Shape;364;p16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5" name="Google Shape;365;p16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6" name="Google Shape;366;p16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5" name="Google Shape;375;p16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6" name="Google Shape;376;p16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78" name="Google Shape;378;p16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379" name="Google Shape;379;p16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0" name="Google Shape;380;p16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p16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3" name="Google Shape;383;p16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4" name="Google Shape;384;p16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5" name="Google Shape;385;p16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6" name="Google Shape;386;p16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8" name="Google Shape;388;p16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9" name="Google Shape;389;p16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0" name="Google Shape;390;p16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" name="Google Shape;391;p16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1" name="Google Shape;411;p16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" name="Google Shape;412;p16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" name="Google Shape;413;p16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14" name="Google Shape;414;p16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5" name="Google Shape;4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6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7" name="Google Shape;417;p16"/>
          <p:cNvSpPr txBox="1"/>
          <p:nvPr/>
        </p:nvSpPr>
        <p:spPr>
          <a:xfrm>
            <a:off x="166350" y="1239450"/>
            <a:ext cx="48528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India Data Portal (</a:t>
            </a:r>
            <a:r>
              <a:rPr lang="en-US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https://indiadataportal.com/p/power/r/mop-coal_stock-pl-dl-aaa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Name: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Coal Stocks in Indian Thermal Power Stations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Records: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3,62,035 rows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Columns: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22 attributes (15 retained after cleaning)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Types: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Dates, floats, categorical, integers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Missing Values: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Found in columns like daily_receipt, remarks, is_critical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8" name="Google Shape;418;p16"/>
          <p:cNvPicPr preferRelativeResize="0"/>
          <p:nvPr/>
        </p:nvPicPr>
        <p:blipFill rotWithShape="1">
          <a:blip r:embed="rId5">
            <a:alphaModFix/>
          </a:blip>
          <a:srcRect b="0" l="0" r="16881" t="0"/>
          <a:stretch/>
        </p:blipFill>
        <p:spPr>
          <a:xfrm>
            <a:off x="5306125" y="791200"/>
            <a:ext cx="6885876" cy="552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17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424" name="Google Shape;424;p17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25" name="Google Shape;425;p17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426" name="Google Shape;426;p17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7" name="Google Shape;427;p17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8" name="Google Shape;428;p17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9" name="Google Shape;429;p17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0" name="Google Shape;430;p17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1" name="Google Shape;431;p17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2" name="Google Shape;432;p17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3" name="Google Shape;433;p17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4" name="Google Shape;434;p17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5" name="Google Shape;435;p17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6" name="Google Shape;436;p17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7" name="Google Shape;437;p17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8" name="Google Shape;438;p17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9" name="Google Shape;439;p17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0" name="Google Shape;440;p17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1" name="Google Shape;441;p17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2" name="Google Shape;442;p17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3" name="Google Shape;443;p17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4" name="Google Shape;444;p17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5" name="Google Shape;445;p17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7" name="Google Shape;447;p17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8" name="Google Shape;448;p17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9" name="Google Shape;449;p17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0" name="Google Shape;450;p17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1" name="Google Shape;451;p17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2" name="Google Shape;452;p17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4" name="Google Shape;454;p17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5" name="Google Shape;455;p17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6" name="Google Shape;456;p17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7" name="Google Shape;457;p17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8" name="Google Shape;458;p17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9" name="Google Shape;459;p17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0" name="Google Shape;460;p17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61" name="Google Shape;461;p17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462" name="Google Shape;462;p17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3" name="Google Shape;463;p17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4" name="Google Shape;464;p17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5" name="Google Shape;465;p17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" name="Google Shape;466;p17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7" name="Google Shape;467;p17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8" name="Google Shape;468;p17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0" name="Google Shape;470;p17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1" name="Google Shape;471;p17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3" name="Google Shape;473;p17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4" name="Google Shape;474;p17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5" name="Google Shape;475;p17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6" name="Google Shape;476;p17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7" name="Google Shape;477;p17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8" name="Google Shape;478;p17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9" name="Google Shape;479;p17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1" name="Google Shape;481;p17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2" name="Google Shape;482;p17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3" name="Google Shape;483;p17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4" name="Google Shape;484;p17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0" name="Google Shape;490;p17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1" name="Google Shape;491;p17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5" name="Google Shape;495;p17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97" name="Google Shape;497;p17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&amp; Libraries Used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8" name="Google Shape;4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7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0" name="Google Shape;500;p17"/>
          <p:cNvSpPr txBox="1"/>
          <p:nvPr/>
        </p:nvSpPr>
        <p:spPr>
          <a:xfrm>
            <a:off x="463975" y="1289850"/>
            <a:ext cx="50301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Core programming language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Jupyter Notebook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For analysis and visualization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Libraries: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pandas, numpy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Data cleaning and processing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matplotlib, seaborn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Data visualization (EDA &amp; results)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Machine Learning (Regression, Clustering)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prophet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Time series forecasting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tensorflow / keras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Deep Learning (LSTM model)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Anaconda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5" name="Google Shape;505;p18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506" name="Google Shape;506;p18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07" name="Google Shape;507;p18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508" name="Google Shape;508;p18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9" name="Google Shape;509;p18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0" name="Google Shape;510;p18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1" name="Google Shape;511;p18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2" name="Google Shape;512;p18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3" name="Google Shape;513;p18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4" name="Google Shape;514;p18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5" name="Google Shape;515;p18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6" name="Google Shape;516;p18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7" name="Google Shape;517;p18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8" name="Google Shape;518;p18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9" name="Google Shape;519;p18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0" name="Google Shape;520;p18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1" name="Google Shape;521;p18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2" name="Google Shape;522;p18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3" name="Google Shape;523;p18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4" name="Google Shape;524;p18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5" name="Google Shape;525;p18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6" name="Google Shape;526;p18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7" name="Google Shape;527;p18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8" name="Google Shape;528;p18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9" name="Google Shape;529;p18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0" name="Google Shape;530;p18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1" name="Google Shape;531;p18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2" name="Google Shape;532;p18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3" name="Google Shape;533;p18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4" name="Google Shape;534;p18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5" name="Google Shape;535;p18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6" name="Google Shape;536;p18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7" name="Google Shape;537;p18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8" name="Google Shape;538;p18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9" name="Google Shape;539;p18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0" name="Google Shape;540;p18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1" name="Google Shape;541;p18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2" name="Google Shape;542;p18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43" name="Google Shape;543;p18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544" name="Google Shape;544;p18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2" name="Google Shape;562;p18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3" name="Google Shape;563;p18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5" name="Google Shape;565;p18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0" name="Google Shape;570;p18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1" name="Google Shape;571;p18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2" name="Google Shape;572;p18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3" name="Google Shape;573;p18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4" name="Google Shape;574;p18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5" name="Google Shape;575;p18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6" name="Google Shape;576;p18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7" name="Google Shape;577;p18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8" name="Google Shape;578;p18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79" name="Google Shape;579;p18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0" name="Google Shape;5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18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2" name="Google Shape;582;p18"/>
          <p:cNvSpPr txBox="1"/>
          <p:nvPr/>
        </p:nvSpPr>
        <p:spPr>
          <a:xfrm>
            <a:off x="475275" y="1273300"/>
            <a:ext cx="708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583" name="Google Shape;58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265" y="1183749"/>
            <a:ext cx="10053300" cy="44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8" name="Google Shape;588;p19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589" name="Google Shape;589;p19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90" name="Google Shape;590;p19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591" name="Google Shape;591;p19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2" name="Google Shape;592;p19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3" name="Google Shape;593;p19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4" name="Google Shape;594;p19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5" name="Google Shape;595;p19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6" name="Google Shape;596;p19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7" name="Google Shape;597;p19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8" name="Google Shape;598;p19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9" name="Google Shape;599;p19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0" name="Google Shape;600;p19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1" name="Google Shape;601;p19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2" name="Google Shape;602;p19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3" name="Google Shape;603;p19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4" name="Google Shape;604;p19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5" name="Google Shape;605;p19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6" name="Google Shape;606;p19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7" name="Google Shape;607;p19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8" name="Google Shape;608;p19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9" name="Google Shape;609;p19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0" name="Google Shape;610;p19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1" name="Google Shape;611;p19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2" name="Google Shape;612;p19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3" name="Google Shape;613;p19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4" name="Google Shape;614;p19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5" name="Google Shape;615;p19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6" name="Google Shape;616;p19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7" name="Google Shape;617;p19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8" name="Google Shape;618;p19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9" name="Google Shape;619;p19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0" name="Google Shape;620;p19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1" name="Google Shape;621;p19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2" name="Google Shape;622;p19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3" name="Google Shape;623;p19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4" name="Google Shape;624;p19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5" name="Google Shape;625;p19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626" name="Google Shape;626;p19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627" name="Google Shape;627;p19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9" name="Google Shape;629;p19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0" name="Google Shape;630;p19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1" name="Google Shape;631;p19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2" name="Google Shape;632;p19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3" name="Google Shape;633;p19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4" name="Google Shape;634;p19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5" name="Google Shape;635;p19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6" name="Google Shape;636;p19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7" name="Google Shape;637;p19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8" name="Google Shape;638;p19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9" name="Google Shape;639;p19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0" name="Google Shape;640;p19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1" name="Google Shape;641;p19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2" name="Google Shape;642;p19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3" name="Google Shape;643;p19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4" name="Google Shape;644;p19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5" name="Google Shape;645;p19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6" name="Google Shape;646;p19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7" name="Google Shape;647;p19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8" name="Google Shape;648;p19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9" name="Google Shape;649;p19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0" name="Google Shape;650;p19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1" name="Google Shape;651;p19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2" name="Google Shape;652;p19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3" name="Google Shape;653;p19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4" name="Google Shape;654;p19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5" name="Google Shape;655;p19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6" name="Google Shape;656;p19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7" name="Google Shape;657;p19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8" name="Google Shape;658;p19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9" name="Google Shape;659;p19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0" name="Google Shape;660;p19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1" name="Google Shape;661;p19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62" name="Google Shape;662;p19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3" name="Google Shape;6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19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5" name="Google Shape;665;p19"/>
          <p:cNvSpPr txBox="1"/>
          <p:nvPr/>
        </p:nvSpPr>
        <p:spPr>
          <a:xfrm>
            <a:off x="244550" y="1364375"/>
            <a:ext cx="61707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Handled missing values using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median imputation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Dropped columns with &gt;30% null values.</a:t>
            </a:r>
            <a:b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date to datetime format.</a:t>
            </a:r>
            <a:b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duplicates and sorted data chronologically.</a:t>
            </a:r>
            <a:b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Clean Dataset: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362,035 × 15 columns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6" name="Google Shape;666;p19"/>
          <p:cNvPicPr preferRelativeResize="0"/>
          <p:nvPr/>
        </p:nvPicPr>
        <p:blipFill rotWithShape="1">
          <a:blip r:embed="rId4">
            <a:alphaModFix/>
          </a:blip>
          <a:srcRect b="0" l="0" r="9436" t="0"/>
          <a:stretch/>
        </p:blipFill>
        <p:spPr>
          <a:xfrm>
            <a:off x="5423024" y="1364375"/>
            <a:ext cx="3033900" cy="453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19"/>
          <p:cNvPicPr preferRelativeResize="0"/>
          <p:nvPr/>
        </p:nvPicPr>
        <p:blipFill rotWithShape="1">
          <a:blip r:embed="rId5">
            <a:alphaModFix/>
          </a:blip>
          <a:srcRect b="0" l="0" r="27735" t="0"/>
          <a:stretch/>
        </p:blipFill>
        <p:spPr>
          <a:xfrm>
            <a:off x="9018772" y="2198725"/>
            <a:ext cx="3173226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19" title="download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0426" y="3735443"/>
            <a:ext cx="831875" cy="83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oogle Shape;673;p2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674" name="Google Shape;674;p2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75" name="Google Shape;675;p2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676" name="Google Shape;676;p2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7" name="Google Shape;677;p2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8" name="Google Shape;678;p2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9" name="Google Shape;679;p2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0" name="Google Shape;680;p2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1" name="Google Shape;681;p2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2" name="Google Shape;682;p2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3" name="Google Shape;683;p2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4" name="Google Shape;684;p2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5" name="Google Shape;685;p2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6" name="Google Shape;686;p2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7" name="Google Shape;687;p2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8" name="Google Shape;688;p2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9" name="Google Shape;689;p2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0" name="Google Shape;690;p2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1" name="Google Shape;691;p2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2" name="Google Shape;692;p2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3" name="Google Shape;693;p2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4" name="Google Shape;694;p2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5" name="Google Shape;695;p2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6" name="Google Shape;696;p2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7" name="Google Shape;697;p2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8" name="Google Shape;698;p2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9" name="Google Shape;699;p2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0" name="Google Shape;700;p2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1" name="Google Shape;701;p2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2" name="Google Shape;702;p2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3" name="Google Shape;703;p2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4" name="Google Shape;704;p2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5" name="Google Shape;705;p2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6" name="Google Shape;706;p2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7" name="Google Shape;707;p2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8" name="Google Shape;708;p2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9" name="Google Shape;709;p2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0" name="Google Shape;710;p2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711" name="Google Shape;711;p2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712" name="Google Shape;712;p20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3" name="Google Shape;713;p20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4" name="Google Shape;714;p20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5" name="Google Shape;715;p20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6" name="Google Shape;716;p20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7" name="Google Shape;717;p20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8" name="Google Shape;718;p20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0" name="Google Shape;720;p20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1" name="Google Shape;721;p20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2" name="Google Shape;722;p20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3" name="Google Shape;723;p20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4" name="Google Shape;724;p20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5" name="Google Shape;725;p20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6" name="Google Shape;726;p20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7" name="Google Shape;727;p20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8" name="Google Shape;728;p20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9" name="Google Shape;729;p20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0" name="Google Shape;730;p20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1" name="Google Shape;731;p20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2" name="Google Shape;732;p20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3" name="Google Shape;733;p20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4" name="Google Shape;734;p20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5" name="Google Shape;735;p20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6" name="Google Shape;736;p20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7" name="Google Shape;737;p20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8" name="Google Shape;738;p20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9" name="Google Shape;739;p20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0" name="Google Shape;740;p20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1" name="Google Shape;741;p20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2" name="Google Shape;742;p20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3" name="Google Shape;743;p20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4" name="Google Shape;744;p20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5" name="Google Shape;745;p20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6" name="Google Shape;746;p20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47" name="Google Shape;747;p20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 (EDA)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8" name="Google Shape;7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20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0" name="Google Shape;750;p20"/>
          <p:cNvSpPr txBox="1"/>
          <p:nvPr/>
        </p:nvSpPr>
        <p:spPr>
          <a:xfrm>
            <a:off x="95125" y="1460000"/>
            <a:ext cx="1006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1" name="Google Shape;751;p20"/>
          <p:cNvSpPr txBox="1"/>
          <p:nvPr/>
        </p:nvSpPr>
        <p:spPr>
          <a:xfrm>
            <a:off x="378200" y="1258650"/>
            <a:ext cx="50904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Analysis: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plants in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Chhattisgarh, Maharashtra, Uttar Pradesh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Rail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transport dominates (≈72%) followed by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Pithead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Road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sector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the highest number of plants.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Analysis: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Normative Stock Days: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Cluster around 15–30 days.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PLF: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Two groups – idle (0%) and active (40–80%).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Stock: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Varies widely across plants – multiple outliers found.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" name="Google Shape;756;p21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757" name="Google Shape;757;p21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58" name="Google Shape;758;p21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759" name="Google Shape;759;p21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0" name="Google Shape;760;p21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1" name="Google Shape;761;p21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2" name="Google Shape;762;p21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3" name="Google Shape;763;p21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4" name="Google Shape;764;p21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5" name="Google Shape;765;p21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6" name="Google Shape;766;p21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7" name="Google Shape;767;p21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8" name="Google Shape;768;p21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9" name="Google Shape;769;p21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0" name="Google Shape;770;p21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1" name="Google Shape;771;p21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2" name="Google Shape;772;p21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3" name="Google Shape;773;p21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4" name="Google Shape;774;p21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5" name="Google Shape;775;p21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6" name="Google Shape;776;p21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7" name="Google Shape;777;p21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8" name="Google Shape;778;p21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9" name="Google Shape;779;p21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0" name="Google Shape;780;p21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1" name="Google Shape;781;p21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2" name="Google Shape;782;p21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3" name="Google Shape;783;p21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4" name="Google Shape;784;p21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5" name="Google Shape;785;p21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6" name="Google Shape;786;p21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7" name="Google Shape;787;p21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8" name="Google Shape;788;p21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9" name="Google Shape;789;p21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0" name="Google Shape;790;p21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1" name="Google Shape;791;p21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2" name="Google Shape;792;p21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3" name="Google Shape;793;p21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794" name="Google Shape;794;p21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795" name="Google Shape;795;p21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2" name="Google Shape;812;p21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3" name="Google Shape;813;p21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4" name="Google Shape;814;p21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5" name="Google Shape;815;p21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6" name="Google Shape;816;p21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8" name="Google Shape;818;p21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0" name="Google Shape;820;p21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8" name="Google Shape;828;p21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9" name="Google Shape;829;p21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30" name="Google Shape;830;p21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Machine Learning Approach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1" name="Google Shape;8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21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3" name="Google Shape;833;p21"/>
          <p:cNvSpPr txBox="1"/>
          <p:nvPr/>
        </p:nvSpPr>
        <p:spPr>
          <a:xfrm>
            <a:off x="166350" y="1620675"/>
            <a:ext cx="1090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4" name="Google Shape;834;p21"/>
          <p:cNvSpPr txBox="1"/>
          <p:nvPr/>
        </p:nvSpPr>
        <p:spPr>
          <a:xfrm>
            <a:off x="449550" y="1620675"/>
            <a:ext cx="5299800" cy="3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 total coal stock (total_stock) using operational parameters.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Used: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Regressor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chosen for high accuracy and robustness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</a:t>
            </a:r>
            <a:b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daily_requirement, plf_prcnt, normative_stock_days, indigenous_stock, import_stock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Metrics: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Model ach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ieve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excellent predictive accuracy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capable of forecasting stock with minimal error.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35" name="Google Shape;835;p21"/>
          <p:cNvGraphicFramePr/>
          <p:nvPr/>
        </p:nvGraphicFramePr>
        <p:xfrm>
          <a:off x="752625" y="369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{47039A5A-6867-41E4-AD81-4D5A3A90B56B}</a:tableStyleId>
              </a:tblPr>
              <a:tblGrid>
                <a:gridCol w="917000"/>
                <a:gridCol w="1907475"/>
              </a:tblGrid>
              <a:tr h="326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Metric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Score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R²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0.9996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MAE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0.55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RMSE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4.42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36" name="Google Shape;836;p21"/>
          <p:cNvPicPr preferRelativeResize="0"/>
          <p:nvPr/>
        </p:nvPicPr>
        <p:blipFill rotWithShape="1">
          <a:blip r:embed="rId4">
            <a:alphaModFix/>
          </a:blip>
          <a:srcRect b="0" l="1951" r="0" t="0"/>
          <a:stretch/>
        </p:blipFill>
        <p:spPr>
          <a:xfrm>
            <a:off x="5583453" y="910600"/>
            <a:ext cx="6523374" cy="503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1" name="Google Shape;841;p22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842" name="Google Shape;842;p22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843" name="Google Shape;843;p22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844" name="Google Shape;844;p22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5" name="Google Shape;845;p22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6" name="Google Shape;846;p22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7" name="Google Shape;847;p22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8" name="Google Shape;848;p22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9" name="Google Shape;849;p22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0" name="Google Shape;850;p22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1" name="Google Shape;851;p22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2" name="Google Shape;852;p22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3" name="Google Shape;853;p22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4" name="Google Shape;854;p22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5" name="Google Shape;855;p22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6" name="Google Shape;856;p22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7" name="Google Shape;857;p22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8" name="Google Shape;858;p22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9" name="Google Shape;859;p22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0" name="Google Shape;860;p22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1" name="Google Shape;861;p22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2" name="Google Shape;862;p22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3" name="Google Shape;863;p22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4" name="Google Shape;864;p22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5" name="Google Shape;865;p22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6" name="Google Shape;866;p22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7" name="Google Shape;867;p22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8" name="Google Shape;868;p22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9" name="Google Shape;869;p22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0" name="Google Shape;870;p22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1" name="Google Shape;871;p22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2" name="Google Shape;872;p22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3" name="Google Shape;873;p22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4" name="Google Shape;874;p22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5" name="Google Shape;875;p22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6" name="Google Shape;876;p22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7" name="Google Shape;877;p22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" name="Google Shape;878;p22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879" name="Google Shape;879;p22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880" name="Google Shape;880;p22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1" name="Google Shape;881;p22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2" name="Google Shape;882;p22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3" name="Google Shape;883;p22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4" name="Google Shape;884;p22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5" name="Google Shape;885;p22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6" name="Google Shape;886;p22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7" name="Google Shape;887;p22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8" name="Google Shape;888;p22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9" name="Google Shape;889;p22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0" name="Google Shape;890;p22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1" name="Google Shape;891;p22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2" name="Google Shape;892;p22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3" name="Google Shape;893;p22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4" name="Google Shape;894;p22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5" name="Google Shape;895;p22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6" name="Google Shape;896;p22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7" name="Google Shape;897;p22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8" name="Google Shape;898;p22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9" name="Google Shape;899;p22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0" name="Google Shape;900;p22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1" name="Google Shape;901;p22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2" name="Google Shape;902;p22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3" name="Google Shape;903;p22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4" name="Google Shape;904;p22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5" name="Google Shape;905;p22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6" name="Google Shape;906;p22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7" name="Google Shape;907;p22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8" name="Google Shape;908;p22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9" name="Google Shape;909;p22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0" name="Google Shape;910;p22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1" name="Google Shape;911;p22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2" name="Google Shape;912;p22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3" name="Google Shape;913;p22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4" name="Google Shape;914;p22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15" name="Google Shape;915;p22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Machine Learning Approach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6" name="Google Shape;9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22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8" name="Google Shape;9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299" y="904725"/>
            <a:ext cx="5537026" cy="4622925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22"/>
          <p:cNvSpPr txBox="1"/>
          <p:nvPr/>
        </p:nvSpPr>
        <p:spPr>
          <a:xfrm>
            <a:off x="2531700" y="5527650"/>
            <a:ext cx="7128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Random Forest Regression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model accurately predicts total coal stock with an R² score of 0.9995, showing excellent alignment between actual and predicted values.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4" name="Google Shape;924;p23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925" name="Google Shape;925;p23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26" name="Google Shape;926;p23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927" name="Google Shape;927;p23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8" name="Google Shape;928;p23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9" name="Google Shape;929;p23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0" name="Google Shape;930;p23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1" name="Google Shape;931;p23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2" name="Google Shape;932;p23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3" name="Google Shape;933;p23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4" name="Google Shape;934;p23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5" name="Google Shape;935;p23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6" name="Google Shape;936;p23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7" name="Google Shape;937;p23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8" name="Google Shape;938;p23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9" name="Google Shape;939;p23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0" name="Google Shape;940;p23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1" name="Google Shape;941;p23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2" name="Google Shape;942;p23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3" name="Google Shape;943;p23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4" name="Google Shape;944;p23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5" name="Google Shape;945;p23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6" name="Google Shape;946;p23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7" name="Google Shape;947;p23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8" name="Google Shape;948;p23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9" name="Google Shape;949;p23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0" name="Google Shape;950;p23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1" name="Google Shape;951;p23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2" name="Google Shape;952;p23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3" name="Google Shape;953;p23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4" name="Google Shape;954;p23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5" name="Google Shape;955;p23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6" name="Google Shape;956;p23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7" name="Google Shape;957;p23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8" name="Google Shape;958;p23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9" name="Google Shape;959;p23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0" name="Google Shape;960;p23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1" name="Google Shape;961;p23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962" name="Google Shape;962;p23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963" name="Google Shape;963;p23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4" name="Google Shape;964;p23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5" name="Google Shape;965;p23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6" name="Google Shape;966;p23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7" name="Google Shape;967;p23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8" name="Google Shape;968;p23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9" name="Google Shape;969;p23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0" name="Google Shape;970;p23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1" name="Google Shape;971;p23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2" name="Google Shape;972;p23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3" name="Google Shape;973;p23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4" name="Google Shape;974;p23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5" name="Google Shape;975;p23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6" name="Google Shape;976;p23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7" name="Google Shape;977;p23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8" name="Google Shape;978;p23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9" name="Google Shape;979;p23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0" name="Google Shape;980;p23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1" name="Google Shape;981;p23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2" name="Google Shape;982;p23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3" name="Google Shape;983;p23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4" name="Google Shape;984;p23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5" name="Google Shape;985;p23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6" name="Google Shape;986;p23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7" name="Google Shape;987;p23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8" name="Google Shape;988;p23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9" name="Google Shape;989;p23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0" name="Google Shape;990;p23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1" name="Google Shape;991;p23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2" name="Google Shape;992;p23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3" name="Google Shape;993;p23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4" name="Google Shape;994;p23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5" name="Google Shape;995;p23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6" name="Google Shape;996;p23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7" name="Google Shape;997;p23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98" name="Google Shape;998;p23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 Analysis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9" name="Google Shape;9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23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1" name="Google Shape;1001;p23"/>
          <p:cNvSpPr txBox="1"/>
          <p:nvPr/>
        </p:nvSpPr>
        <p:spPr>
          <a:xfrm>
            <a:off x="166350" y="1620675"/>
            <a:ext cx="1090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2" name="Google Shape;1002;p23"/>
          <p:cNvSpPr txBox="1"/>
          <p:nvPr/>
        </p:nvSpPr>
        <p:spPr>
          <a:xfrm>
            <a:off x="332025" y="1353700"/>
            <a:ext cx="4146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K-Means (k = 3)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Used:</a:t>
            </a:r>
            <a:b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daily_requirement, total_stock, normative_stock_days, plf_prcnt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Insights: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0: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 capacity &amp; stable stock → </a:t>
            </a:r>
            <a:r>
              <a:rPr i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Healthy Plants</a:t>
            </a:r>
            <a:br>
              <a:rPr i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1: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Moderate stock &amp; fluctuating needs → </a:t>
            </a:r>
            <a:r>
              <a:rPr i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At-Risk Plants</a:t>
            </a:r>
            <a:br>
              <a:rPr i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2: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Low PLF &amp; low stock → </a:t>
            </a:r>
            <a:r>
              <a:rPr i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Plants</a:t>
            </a:r>
            <a:endParaRPr i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3" name="Google Shape;1003;p23"/>
          <p:cNvPicPr preferRelativeResize="0"/>
          <p:nvPr/>
        </p:nvPicPr>
        <p:blipFill rotWithShape="1">
          <a:blip r:embed="rId4">
            <a:alphaModFix/>
          </a:blip>
          <a:srcRect b="0" l="0" r="17925" t="0"/>
          <a:stretch/>
        </p:blipFill>
        <p:spPr>
          <a:xfrm>
            <a:off x="4480738" y="773384"/>
            <a:ext cx="7506927" cy="566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8" name="Google Shape;1008;p24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009" name="Google Shape;1009;p24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010" name="Google Shape;1010;p24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011" name="Google Shape;1011;p24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2" name="Google Shape;1012;p24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3" name="Google Shape;1013;p24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4" name="Google Shape;1014;p24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5" name="Google Shape;1015;p24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6" name="Google Shape;1016;p24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7" name="Google Shape;1017;p24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8" name="Google Shape;1018;p24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9" name="Google Shape;1019;p24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0" name="Google Shape;1020;p24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1" name="Google Shape;1021;p24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6" name="Google Shape;1026;p24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7" name="Google Shape;1027;p24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8" name="Google Shape;1028;p24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9" name="Google Shape;1029;p24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0" name="Google Shape;1030;p24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1" name="Google Shape;1031;p24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2" name="Google Shape;1032;p24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3" name="Google Shape;1033;p24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4" name="Google Shape;1034;p24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5" name="Google Shape;1035;p24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6" name="Google Shape;1036;p24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7" name="Google Shape;1037;p24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8" name="Google Shape;1038;p24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5" name="Google Shape;1045;p24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046" name="Google Shape;1046;p24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1047" name="Google Shape;1047;p24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8" name="Google Shape;1048;p24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9" name="Google Shape;1049;p24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0" name="Google Shape;1050;p24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1" name="Google Shape;1051;p24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2" name="Google Shape;1052;p24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3" name="Google Shape;1053;p24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4" name="Google Shape;1054;p24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5" name="Google Shape;1055;p24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6" name="Google Shape;1056;p24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7" name="Google Shape;1057;p24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8" name="Google Shape;1058;p24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9" name="Google Shape;1059;p24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0" name="Google Shape;1060;p24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1" name="Google Shape;1061;p24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2" name="Google Shape;1062;p24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3" name="Google Shape;1063;p24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4" name="Google Shape;1064;p24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5" name="Google Shape;1065;p24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6" name="Google Shape;1066;p24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8" name="Google Shape;1068;p24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9" name="Google Shape;1069;p24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0" name="Google Shape;1070;p24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1" name="Google Shape;1071;p24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2" name="Google Shape;1072;p24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3" name="Google Shape;1073;p24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4" name="Google Shape;1074;p24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5" name="Google Shape;1075;p24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6" name="Google Shape;1076;p24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7" name="Google Shape;1077;p24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8" name="Google Shape;1078;p24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9" name="Google Shape;1079;p24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0" name="Google Shape;1080;p24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1" name="Google Shape;1081;p24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82" name="Google Shape;1082;p24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 Analysis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3" name="Google Shape;10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24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5" name="Google Shape;108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644" y="1165250"/>
            <a:ext cx="5770801" cy="430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24"/>
          <p:cNvPicPr preferRelativeResize="0"/>
          <p:nvPr/>
        </p:nvPicPr>
        <p:blipFill rotWithShape="1">
          <a:blip r:embed="rId5">
            <a:alphaModFix/>
          </a:blip>
          <a:srcRect b="0" l="0" r="0" t="1419"/>
          <a:stretch/>
        </p:blipFill>
        <p:spPr>
          <a:xfrm>
            <a:off x="6410575" y="861725"/>
            <a:ext cx="4831457" cy="460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24"/>
          <p:cNvSpPr txBox="1"/>
          <p:nvPr/>
        </p:nvSpPr>
        <p:spPr>
          <a:xfrm>
            <a:off x="790225" y="5470100"/>
            <a:ext cx="4371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graph uses the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Elbow Method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find the optimal number of clusters for K-Means, showing that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3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gives the best balance between model simplicity and performance.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8" name="Google Shape;1088;p24"/>
          <p:cNvSpPr txBox="1"/>
          <p:nvPr/>
        </p:nvSpPr>
        <p:spPr>
          <a:xfrm>
            <a:off x="6410575" y="5470100"/>
            <a:ext cx="532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image is a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pairplot visualization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showing the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distribution of power plants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after applying the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K-Means algorithm (k=3)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25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094" name="Google Shape;1094;p25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095" name="Google Shape;1095;p25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096" name="Google Shape;1096;p25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7" name="Google Shape;1097;p25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8" name="Google Shape;1098;p25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9" name="Google Shape;1099;p25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0" name="Google Shape;1100;p25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1" name="Google Shape;1101;p25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2" name="Google Shape;1102;p25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3" name="Google Shape;1103;p25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4" name="Google Shape;1104;p25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5" name="Google Shape;1105;p25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6" name="Google Shape;1106;p25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7" name="Google Shape;1107;p25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8" name="Google Shape;1108;p25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9" name="Google Shape;1109;p25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0" name="Google Shape;1110;p25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1" name="Google Shape;1111;p25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2" name="Google Shape;1112;p25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3" name="Google Shape;1113;p25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4" name="Google Shape;1114;p25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5" name="Google Shape;1115;p25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6" name="Google Shape;1116;p25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7" name="Google Shape;1117;p25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8" name="Google Shape;1118;p25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9" name="Google Shape;1119;p25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0" name="Google Shape;1120;p25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1" name="Google Shape;1121;p25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2" name="Google Shape;1122;p25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3" name="Google Shape;1123;p25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4" name="Google Shape;1124;p25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8" name="Google Shape;1128;p25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9" name="Google Shape;1129;p25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0" name="Google Shape;1130;p25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131" name="Google Shape;1131;p25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1132" name="Google Shape;1132;p25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3" name="Google Shape;1133;p25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4" name="Google Shape;1134;p25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5" name="Google Shape;1135;p25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6" name="Google Shape;1136;p25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7" name="Google Shape;1137;p25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8" name="Google Shape;1138;p25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9" name="Google Shape;1139;p25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0" name="Google Shape;1140;p25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1" name="Google Shape;1141;p25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2" name="Google Shape;1142;p25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3" name="Google Shape;1143;p25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4" name="Google Shape;1144;p25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5" name="Google Shape;1145;p25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6" name="Google Shape;1146;p25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7" name="Google Shape;1147;p25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8" name="Google Shape;1148;p25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9" name="Google Shape;1149;p25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0" name="Google Shape;1150;p25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1" name="Google Shape;1151;p25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2" name="Google Shape;1152;p25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3" name="Google Shape;1153;p25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4" name="Google Shape;1154;p25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5" name="Google Shape;1155;p25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6" name="Google Shape;1156;p25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7" name="Google Shape;1157;p25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8" name="Google Shape;1158;p25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0" name="Google Shape;1160;p25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1" name="Google Shape;1161;p25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2" name="Google Shape;1162;p25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3" name="Google Shape;1163;p25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4" name="Google Shape;1164;p25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5" name="Google Shape;1165;p25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6" name="Google Shape;1166;p25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67" name="Google Shape;1167;p25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Forecasting: Prophet Model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8" name="Google Shape;11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25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0" name="Google Shape;1170;p25"/>
          <p:cNvSpPr txBox="1"/>
          <p:nvPr/>
        </p:nvSpPr>
        <p:spPr>
          <a:xfrm>
            <a:off x="248375" y="1141350"/>
            <a:ext cx="48114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coal stock levels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the next 30 days.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Used: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Facebook Prophet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(Time-Series Forecasting)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Aggregated daily total stock (date, total_stock).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Prophet model and generated 30-day forecast.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Output: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upward/downward trend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coal stock.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plot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shows seasonal and weekly variations.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Helps in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anticipating shortages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improving supply planning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1" name="Google Shape;117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0042" y="1166288"/>
            <a:ext cx="6871459" cy="4772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6" name="Google Shape;1176;p26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177" name="Google Shape;1177;p26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178" name="Google Shape;1178;p26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179" name="Google Shape;1179;p26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0" name="Google Shape;1180;p26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1" name="Google Shape;1181;p26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2" name="Google Shape;1182;p26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3" name="Google Shape;1183;p26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4" name="Google Shape;1184;p26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5" name="Google Shape;1185;p26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6" name="Google Shape;1186;p26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7" name="Google Shape;1187;p26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8" name="Google Shape;1188;p26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9" name="Google Shape;1189;p26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0" name="Google Shape;1190;p26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1" name="Google Shape;1191;p26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2" name="Google Shape;1192;p26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3" name="Google Shape;1193;p26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4" name="Google Shape;1194;p26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5" name="Google Shape;1195;p26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6" name="Google Shape;1196;p26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7" name="Google Shape;1197;p26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8" name="Google Shape;1198;p26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9" name="Google Shape;1199;p26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0" name="Google Shape;1200;p26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1" name="Google Shape;1201;p26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2" name="Google Shape;1202;p26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3" name="Google Shape;1203;p26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4" name="Google Shape;1204;p26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5" name="Google Shape;1205;p26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6" name="Google Shape;1206;p26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7" name="Google Shape;1207;p26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8" name="Google Shape;1208;p26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9" name="Google Shape;1209;p26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0" name="Google Shape;1210;p26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2" name="Google Shape;1212;p26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3" name="Google Shape;1213;p26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214" name="Google Shape;1214;p26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1215" name="Google Shape;1215;p26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6" name="Google Shape;1216;p26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7" name="Google Shape;1217;p26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8" name="Google Shape;1218;p26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9" name="Google Shape;1219;p26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0" name="Google Shape;1220;p26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1" name="Google Shape;1221;p26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2" name="Google Shape;1222;p26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3" name="Google Shape;1223;p26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4" name="Google Shape;1224;p26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5" name="Google Shape;1225;p26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6" name="Google Shape;1226;p26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7" name="Google Shape;1227;p26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8" name="Google Shape;1228;p26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9" name="Google Shape;1229;p26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0" name="Google Shape;1230;p26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1" name="Google Shape;1231;p26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2" name="Google Shape;1232;p26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3" name="Google Shape;1233;p26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4" name="Google Shape;1234;p26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5" name="Google Shape;1235;p26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6" name="Google Shape;1236;p26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7" name="Google Shape;1237;p26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8" name="Google Shape;1238;p26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9" name="Google Shape;1239;p26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0" name="Google Shape;1240;p26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1" name="Google Shape;1241;p26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2" name="Google Shape;1242;p26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3" name="Google Shape;1243;p26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4" name="Google Shape;1244;p26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5" name="Google Shape;1245;p26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6" name="Google Shape;1246;p26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7" name="Google Shape;1247;p26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8" name="Google Shape;1248;p26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9" name="Google Shape;1249;p26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50" name="Google Shape;1250;p26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Forecasting: Prophet Model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1" name="Google Shape;125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26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3" name="Google Shape;1253;p26"/>
          <p:cNvSpPr txBox="1"/>
          <p:nvPr/>
        </p:nvSpPr>
        <p:spPr>
          <a:xfrm>
            <a:off x="166350" y="1620675"/>
            <a:ext cx="1090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4" name="Google Shape;125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124" y="1740774"/>
            <a:ext cx="5157800" cy="29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9200" y="1146550"/>
            <a:ext cx="5819499" cy="364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26"/>
          <p:cNvSpPr txBox="1"/>
          <p:nvPr/>
        </p:nvSpPr>
        <p:spPr>
          <a:xfrm>
            <a:off x="653875" y="4789125"/>
            <a:ext cx="44187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graph shows the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forecasted coal stock levels for the next 30 days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indicating an expected upward trend in overall coal availability.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7" name="Google Shape;1257;p26"/>
          <p:cNvSpPr txBox="1"/>
          <p:nvPr/>
        </p:nvSpPr>
        <p:spPr>
          <a:xfrm>
            <a:off x="6002350" y="4736050"/>
            <a:ext cx="55491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graph shows the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trend and weekly seasonality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coal stock — overall stock levels are rising over time, with higher stocks typically observed early in the week and declining toward the weekend.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2" name="Google Shape;1262;p27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263" name="Google Shape;1263;p27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264" name="Google Shape;1264;p27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265" name="Google Shape;1265;p27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6" name="Google Shape;1266;p27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7" name="Google Shape;1267;p27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8" name="Google Shape;1268;p27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9" name="Google Shape;1269;p27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0" name="Google Shape;1270;p27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1" name="Google Shape;1271;p27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2" name="Google Shape;1272;p27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3" name="Google Shape;1273;p27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4" name="Google Shape;1274;p27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5" name="Google Shape;1275;p27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6" name="Google Shape;1276;p27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7" name="Google Shape;1277;p27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8" name="Google Shape;1278;p27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9" name="Google Shape;1279;p27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0" name="Google Shape;1280;p27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1" name="Google Shape;1281;p27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2" name="Google Shape;1282;p27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3" name="Google Shape;1283;p27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4" name="Google Shape;1284;p27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5" name="Google Shape;1285;p27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6" name="Google Shape;1286;p27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7" name="Google Shape;1287;p27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8" name="Google Shape;1288;p27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9" name="Google Shape;1289;p27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0" name="Google Shape;1290;p27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1" name="Google Shape;1291;p27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2" name="Google Shape;1292;p27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3" name="Google Shape;1293;p27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4" name="Google Shape;1294;p27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5" name="Google Shape;1295;p27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6" name="Google Shape;1296;p27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7" name="Google Shape;1297;p27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8" name="Google Shape;1298;p27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9" name="Google Shape;1299;p27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300" name="Google Shape;1300;p27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1301" name="Google Shape;1301;p27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2" name="Google Shape;1302;p27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3" name="Google Shape;1303;p27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4" name="Google Shape;1304;p27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5" name="Google Shape;1305;p27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6" name="Google Shape;1306;p27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7" name="Google Shape;1307;p27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8" name="Google Shape;1308;p27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9" name="Google Shape;1309;p27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0" name="Google Shape;1310;p27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1" name="Google Shape;1311;p27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2" name="Google Shape;1312;p27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3" name="Google Shape;1313;p27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4" name="Google Shape;1314;p27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5" name="Google Shape;1315;p27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6" name="Google Shape;1316;p27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7" name="Google Shape;1317;p27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8" name="Google Shape;1318;p27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9" name="Google Shape;1319;p27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0" name="Google Shape;1320;p27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1" name="Google Shape;1321;p27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2" name="Google Shape;1322;p27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3" name="Google Shape;1323;p27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4" name="Google Shape;1324;p27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5" name="Google Shape;1325;p27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6" name="Google Shape;1326;p27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7" name="Google Shape;1327;p27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8" name="Google Shape;1328;p27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9" name="Google Shape;1329;p27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0" name="Google Shape;1330;p27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1" name="Google Shape;1331;p27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2" name="Google Shape;1332;p27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36" name="Google Shape;1336;p27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7" name="Google Shape;133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27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9" name="Google Shape;1339;p27"/>
          <p:cNvSpPr txBox="1"/>
          <p:nvPr/>
        </p:nvSpPr>
        <p:spPr>
          <a:xfrm>
            <a:off x="166350" y="1620675"/>
            <a:ext cx="1090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0" name="Google Shape;134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350" y="1352875"/>
            <a:ext cx="5416125" cy="340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1" name="Google Shape;134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2825" y="1352875"/>
            <a:ext cx="5272165" cy="340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27"/>
          <p:cNvSpPr txBox="1"/>
          <p:nvPr/>
        </p:nvSpPr>
        <p:spPr>
          <a:xfrm>
            <a:off x="555263" y="4942350"/>
            <a:ext cx="4638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graph shows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yearly and overall trend components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coal stock levels typically rise around mid-year and dip toward the end of the year, indicating seasonal demand and supply variation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3" name="Google Shape;1343;p27"/>
          <p:cNvSpPr txBox="1"/>
          <p:nvPr/>
        </p:nvSpPr>
        <p:spPr>
          <a:xfrm>
            <a:off x="6272813" y="4942350"/>
            <a:ext cx="5272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chart shows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weekly and yearly seasonal trends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coal stock levels peak around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March–May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decline toward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October–November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while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Monday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shows the highest weekly stock levels and </a:t>
            </a: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Saturday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lowest.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8" name="Google Shape;1348;p28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349" name="Google Shape;1349;p28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350" name="Google Shape;1350;p28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351" name="Google Shape;1351;p28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2" name="Google Shape;1352;p28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3" name="Google Shape;1353;p28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4" name="Google Shape;1354;p28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5" name="Google Shape;1355;p28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6" name="Google Shape;1356;p28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7" name="Google Shape;1357;p28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8" name="Google Shape;1358;p28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59" name="Google Shape;1359;p28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0" name="Google Shape;1360;p28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1" name="Google Shape;1361;p28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2" name="Google Shape;1362;p28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3" name="Google Shape;1363;p28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4" name="Google Shape;1364;p28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5" name="Google Shape;1365;p28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6" name="Google Shape;1366;p28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7" name="Google Shape;1367;p28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8" name="Google Shape;1368;p28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69" name="Google Shape;1369;p28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0" name="Google Shape;1370;p28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1" name="Google Shape;1371;p28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2" name="Google Shape;1372;p28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3" name="Google Shape;1373;p28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4" name="Google Shape;1374;p28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5" name="Google Shape;1375;p28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6" name="Google Shape;1376;p28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7" name="Google Shape;1377;p28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8" name="Google Shape;1378;p28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79" name="Google Shape;1379;p28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0" name="Google Shape;1380;p28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1" name="Google Shape;1381;p28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2" name="Google Shape;1382;p28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3" name="Google Shape;1383;p28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4" name="Google Shape;1384;p28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5" name="Google Shape;1385;p28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386" name="Google Shape;1386;p28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1387" name="Google Shape;1387;p28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422" name="Google Shape;1422;p28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3" name="Google Shape;14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28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5" name="Google Shape;1425;p28"/>
          <p:cNvSpPr txBox="1"/>
          <p:nvPr/>
        </p:nvSpPr>
        <p:spPr>
          <a:xfrm>
            <a:off x="574700" y="1757250"/>
            <a:ext cx="92103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successfully analyzed coal stock patterns and optimized predictions using Machine Learning.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 (Random Forest)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achieved excellent performance with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R² = 0.9995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accurately forecasting total coal stock.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 analysis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helped identify different categories of power plants based on 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perational and stock parameters.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Deep Learning models (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LSTM, CNN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were explored but showed limited improvement, highlighting the adequacy of traditional ML models for this dataset.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developed model can support better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coal management, planning, and decision-making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power generation.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0" name="Google Shape;1430;p29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431" name="Google Shape;1431;p29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432" name="Google Shape;1432;p29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433" name="Google Shape;1433;p29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38" name="Google Shape;1438;p29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39" name="Google Shape;1439;p29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40" name="Google Shape;1440;p29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468" name="Google Shape;1468;p29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1469" name="Google Shape;1469;p29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0" name="Google Shape;1470;p29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1" name="Google Shape;1471;p29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2" name="Google Shape;1472;p29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3" name="Google Shape;1473;p29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4" name="Google Shape;1474;p29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8" name="Google Shape;1478;p29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9" name="Google Shape;1479;p29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0" name="Google Shape;1480;p29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1" name="Google Shape;1481;p29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2" name="Google Shape;1482;p29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3" name="Google Shape;1483;p29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4" name="Google Shape;1484;p29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5" name="Google Shape;1485;p29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6" name="Google Shape;1486;p29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7" name="Google Shape;1487;p29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8" name="Google Shape;1488;p29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9" name="Google Shape;1489;p29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0" name="Google Shape;1490;p29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1" name="Google Shape;1491;p29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2" name="Google Shape;1492;p29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3" name="Google Shape;1493;p29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4" name="Google Shape;1494;p29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5" name="Google Shape;1495;p29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6" name="Google Shape;1496;p29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7" name="Google Shape;1497;p29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8" name="Google Shape;1498;p29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9" name="Google Shape;1499;p29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0" name="Google Shape;1500;p29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1" name="Google Shape;1501;p29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2" name="Google Shape;1502;p29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3" name="Google Shape;1503;p29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04" name="Google Shape;1504;p29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&amp; Acknowledgment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5" name="Google Shape;150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29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7" name="Google Shape;1507;p29"/>
          <p:cNvSpPr txBox="1"/>
          <p:nvPr/>
        </p:nvSpPr>
        <p:spPr>
          <a:xfrm>
            <a:off x="752200" y="1136650"/>
            <a:ext cx="42477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Source: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India Data Portal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Used: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Python, Scikit-learn, TensorFlow, Seaborn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Guidance: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Dr. Piyush Chauhan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Institution: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Symbiosis Institute of Technology, Nagpur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By: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Pranita Dadhe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2" name="Google Shape;1512;p3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513" name="Google Shape;1513;p3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514" name="Google Shape;1514;p3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515" name="Google Shape;1515;p3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16" name="Google Shape;1516;p3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2" name="Google Shape;1522;p3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3" name="Google Shape;1523;p3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7" name="Google Shape;1527;p3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8" name="Google Shape;1528;p3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2" name="Google Shape;1532;p3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3" name="Google Shape;1533;p3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4" name="Google Shape;1534;p3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5" name="Google Shape;1535;p3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6" name="Google Shape;1536;p3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7" name="Google Shape;1537;p3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8" name="Google Shape;1538;p3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39" name="Google Shape;1539;p3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2" name="Google Shape;1542;p3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3" name="Google Shape;1543;p3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6" name="Google Shape;1546;p3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7" name="Google Shape;1547;p3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8" name="Google Shape;1548;p3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9" name="Google Shape;1549;p3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550" name="Google Shape;1550;p3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1551" name="Google Shape;1551;p30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2" name="Google Shape;1552;p30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3" name="Google Shape;1553;p30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4" name="Google Shape;1554;p30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5" name="Google Shape;1555;p30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6" name="Google Shape;1556;p30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7" name="Google Shape;1557;p30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8" name="Google Shape;1558;p30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9" name="Google Shape;1559;p30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0" name="Google Shape;1560;p30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1" name="Google Shape;1561;p30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2" name="Google Shape;1562;p30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3" name="Google Shape;1563;p30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4" name="Google Shape;1564;p30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5" name="Google Shape;1565;p30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6" name="Google Shape;1566;p30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7" name="Google Shape;1567;p30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8" name="Google Shape;1568;p30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9" name="Google Shape;1569;p30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0" name="Google Shape;1570;p30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1" name="Google Shape;1571;p30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2" name="Google Shape;1572;p30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3" name="Google Shape;1573;p30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4" name="Google Shape;1574;p30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5" name="Google Shape;1575;p30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6" name="Google Shape;1576;p30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7" name="Google Shape;1577;p30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8" name="Google Shape;1578;p30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9" name="Google Shape;1579;p30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0" name="Google Shape;1580;p30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1" name="Google Shape;1581;p30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2" name="Google Shape;1582;p30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3" name="Google Shape;1583;p30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4" name="Google Shape;1584;p30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5" name="Google Shape;1585;p30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86" name="Google Shape;1586;p30"/>
          <p:cNvSpPr/>
          <p:nvPr/>
        </p:nvSpPr>
        <p:spPr>
          <a:xfrm>
            <a:off x="0" y="-700"/>
            <a:ext cx="12192000" cy="72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7" name="Google Shape;158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37" y="73266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588" name="Google Shape;1588;p30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9" name="Google Shape;1589;p30"/>
          <p:cNvSpPr txBox="1"/>
          <p:nvPr/>
        </p:nvSpPr>
        <p:spPr>
          <a:xfrm>
            <a:off x="166350" y="2489100"/>
            <a:ext cx="10908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YOU:0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